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1" r:id="rId4"/>
    <p:sldId id="259" r:id="rId5"/>
    <p:sldId id="260" r:id="rId6"/>
    <p:sldId id="25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26" y="10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Azure Agent for Azure Admins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91440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Conversational AI that simplifies Azure operations — with near-zero friction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274320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5310" y="2706624"/>
            <a:ext cx="45720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78D4"/>
                </a:solidFill>
                <a:latin typeface="Segoe U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5309" y="3154680"/>
            <a:ext cx="5846885" cy="251351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CBD5E1"/>
                </a:solidFill>
                <a:latin typeface="Segoe UI"/>
              </a:rPr>
              <a:t>▸  Azure Admins spend hours daily on repetitive resource, cost &amp; policy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309" y="3538728"/>
            <a:ext cx="5627075" cy="251351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CBD5E1"/>
                </a:solidFill>
                <a:latin typeface="Segoe UI"/>
              </a:rPr>
              <a:t>▸  Multiple portal blades, CLI commands, and docs to achieve simple 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309" y="3922776"/>
            <a:ext cx="5486399" cy="251351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CBD5E1"/>
                </a:solidFill>
                <a:latin typeface="Segoe UI"/>
              </a:rPr>
              <a:t>▸  Quota requests &amp; support tickets involve manual multi-step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310" y="4306824"/>
            <a:ext cx="5363308" cy="251351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CBD5E1"/>
                </a:solidFill>
                <a:latin typeface="Segoe UI"/>
              </a:rPr>
              <a:t>▸  No unified view across resources, costs, health, and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7C10"/>
                </a:solidFill>
                <a:latin typeface="Segoe UI"/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5539154" cy="251351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A7F3D0"/>
                </a:solidFill>
                <a:latin typeface="Segoe UI"/>
              </a:rPr>
              <a:t>✓  Natural-language interface — ask questions, get answers &amp;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9" y="3538728"/>
            <a:ext cx="5627077" cy="251351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A7F3D0"/>
                </a:solidFill>
                <a:latin typeface="Segoe UI"/>
              </a:rPr>
              <a:t>✓  6 </a:t>
            </a:r>
            <a:r>
              <a:rPr sz="1300" b="0" dirty="0" err="1">
                <a:solidFill>
                  <a:srgbClr val="A7F3D0"/>
                </a:solidFill>
                <a:latin typeface="Segoe UI"/>
              </a:rPr>
              <a:t>specialised</a:t>
            </a:r>
            <a:r>
              <a:rPr sz="1300" b="0" dirty="0">
                <a:solidFill>
                  <a:srgbClr val="A7F3D0"/>
                </a:solidFill>
                <a:latin typeface="Segoe UI"/>
              </a:rPr>
              <a:t> AI agents that route, reason &amp; execute with high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22776"/>
            <a:ext cx="5539154" cy="251351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7F3D0"/>
                </a:solidFill>
                <a:latin typeface="Segoe UI"/>
              </a:rPr>
              <a:t>✓  Unified dashboard: resources, costs, health, compliance in one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06824"/>
            <a:ext cx="5627076" cy="251351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7F3D0"/>
                </a:solidFill>
                <a:latin typeface="Segoe UI"/>
              </a:rPr>
              <a:t>✓  Extensible MCP architecture — admins add custom tools in minutes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Built on Microsoft Agent Framework  ·  MCP Protocol  ·  Azure REST APIs  ·  Entra 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293B"/>
                </a:solidFill>
                <a:latin typeface="Segoe UI"/>
              </a:rPr>
              <a:t>What Azure Agent Does for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40+ MCP tools across 9 domains — all accessible through natural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383280" cy="1188720"/>
          </a:xfrm>
          <a:prstGeom prst="roundRect">
            <a:avLst>
              <a:gd name="adj" fmla="val 6000"/>
            </a:avLst>
          </a:prstGeom>
          <a:solidFill>
            <a:srgbClr val="E1F0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" cy="118872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310896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78D4"/>
                </a:solidFill>
                <a:latin typeface="Segoe UI"/>
              </a:rPr>
              <a:t>🔍  Resource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Segoe UI"/>
              </a:rPr>
              <a:t>List, search &amp; inspect resources
using KQL Resource Graph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71600"/>
            <a:ext cx="3383280" cy="1188720"/>
          </a:xfrm>
          <a:prstGeom prst="roundRect">
            <a:avLst>
              <a:gd name="adj" fmla="val 6000"/>
            </a:avLst>
          </a:prstGeom>
          <a:solidFill>
            <a:srgbClr val="E6F7E6"/>
          </a:solidFill>
          <a:ln w="1524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371600"/>
            <a:ext cx="54864" cy="1188720"/>
          </a:xfrm>
          <a:prstGeom prst="rect">
            <a:avLst/>
          </a:prstGeom>
          <a:solidFill>
            <a:srgbClr val="107C10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481328"/>
            <a:ext cx="310896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7C10"/>
                </a:solidFill>
                <a:latin typeface="Segoe UI"/>
              </a:rPr>
              <a:t>💰  Cost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28800"/>
            <a:ext cx="310896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Segoe UI"/>
              </a:rPr>
              <a:t>Cost summaries by RG, service,
resource — up to 90-day windows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371600"/>
            <a:ext cx="3383280" cy="1188720"/>
          </a:xfrm>
          <a:prstGeom prst="roundRect">
            <a:avLst>
              <a:gd name="adj" fmla="val 6000"/>
            </a:avLst>
          </a:prstGeom>
          <a:solidFill>
            <a:srgbClr val="E0F7F7"/>
          </a:solidFill>
          <a:ln w="15240">
            <a:solidFill>
              <a:srgbClr val="00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0" y="1371600"/>
            <a:ext cx="54864" cy="1188720"/>
          </a:xfrm>
          <a:prstGeom prst="rect">
            <a:avLst/>
          </a:prstGeom>
          <a:solidFill>
            <a:srgbClr val="007A7A"/>
          </a:solidFill>
          <a:ln>
            <a:solidFill>
              <a:srgbClr val="00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0" y="1481328"/>
            <a:ext cx="310896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7A7A"/>
                </a:solidFill>
                <a:latin typeface="Segoe UI"/>
              </a:rPr>
              <a:t>📈  Monitoring &amp;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828800"/>
            <a:ext cx="310896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Segoe UI"/>
              </a:rPr>
              <a:t>Metrics, resource health,
activity logs &amp; idle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24912"/>
            <a:ext cx="3383280" cy="1188720"/>
          </a:xfrm>
          <a:prstGeom prst="roundRect">
            <a:avLst>
              <a:gd name="adj" fmla="val 6000"/>
            </a:avLst>
          </a:prstGeom>
          <a:solidFill>
            <a:srgbClr val="F3F0FF"/>
          </a:solidFill>
          <a:ln w="1524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2724912"/>
            <a:ext cx="54864" cy="1188720"/>
          </a:xfrm>
          <a:prstGeom prst="rect">
            <a:avLst/>
          </a:prstGeom>
          <a:solidFill>
            <a:srgbClr val="5C2D91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2834640"/>
            <a:ext cx="310896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C2D91"/>
                </a:solidFill>
                <a:latin typeface="Segoe UI"/>
              </a:rPr>
              <a:t>📋  Policy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82112"/>
            <a:ext cx="310896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Segoe UI"/>
              </a:rPr>
              <a:t>List assignments, check compliance,
author &amp; assign custom policies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2724912"/>
            <a:ext cx="3383280" cy="11887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5240">
            <a:solidFill>
              <a:srgbClr val="CA5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60520" y="2724912"/>
            <a:ext cx="54864" cy="1188720"/>
          </a:xfrm>
          <a:prstGeom prst="rect">
            <a:avLst/>
          </a:prstGeom>
          <a:solidFill>
            <a:srgbClr val="CA5A10"/>
          </a:solidFill>
          <a:ln>
            <a:solidFill>
              <a:srgbClr val="CA5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2834640"/>
            <a:ext cx="310896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A5A10"/>
                </a:solidFill>
                <a:latin typeface="Segoe UI"/>
              </a:rPr>
              <a:t>📊  Quota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182112"/>
            <a:ext cx="310896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Segoe UI"/>
              </a:rPr>
              <a:t>View limits, request increases,
track approval across providers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2724912"/>
            <a:ext cx="3383280" cy="118872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524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0" y="2724912"/>
            <a:ext cx="54864" cy="1188720"/>
          </a:xfrm>
          <a:prstGeom prst="rect">
            <a:avLst/>
          </a:prstGeom>
          <a:solidFill>
            <a:srgbClr val="D13438"/>
          </a:solidFill>
          <a:ln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0" y="2834640"/>
            <a:ext cx="310896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13438"/>
                </a:solidFill>
                <a:latin typeface="Segoe UI"/>
              </a:rPr>
              <a:t>🎫  Support Tickets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3182112"/>
            <a:ext cx="310896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Segoe UI"/>
              </a:rPr>
              <a:t>Create, update &amp; track tickets;
manage communications lifecycle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078224"/>
            <a:ext cx="3383280" cy="118872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 w="1524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4078224"/>
            <a:ext cx="54864" cy="118872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187952"/>
            <a:ext cx="310896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3A5C"/>
                </a:solidFill>
                <a:latin typeface="Segoe UI"/>
              </a:rPr>
              <a:t>📄  Interactive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535424"/>
            <a:ext cx="310896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Segoe UI"/>
              </a:rPr>
              <a:t>Auto-generate HTML dashboards
with charts, tables &amp; filters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4078224"/>
            <a:ext cx="3383280" cy="1188720"/>
          </a:xfrm>
          <a:prstGeom prst="roundRect">
            <a:avLst>
              <a:gd name="adj" fmla="val 6000"/>
            </a:avLst>
          </a:prstGeom>
          <a:solidFill>
            <a:srgbClr val="E0F7F7"/>
          </a:solidFill>
          <a:ln w="1524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60520" y="4078224"/>
            <a:ext cx="54864" cy="1188720"/>
          </a:xfrm>
          <a:prstGeom prst="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400" y="4187952"/>
            <a:ext cx="310896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C86"/>
                </a:solidFill>
                <a:latin typeface="Segoe UI"/>
              </a:rPr>
              <a:t>🏷️  Resource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535424"/>
            <a:ext cx="310896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Segoe UI"/>
              </a:rPr>
              <a:t>VM power ops, tag updates,
orphan &amp; idle resource detection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4078224"/>
            <a:ext cx="3383280" cy="1188720"/>
          </a:xfrm>
          <a:prstGeom prst="roundRect">
            <a:avLst>
              <a:gd name="adj" fmla="val 6000"/>
            </a:avLst>
          </a:prstGeom>
          <a:solidFill>
            <a:srgbClr val="F3F0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72400" y="4078224"/>
            <a:ext cx="54864" cy="1188720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80" y="4187952"/>
            <a:ext cx="310896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28D9"/>
                </a:solidFill>
                <a:latin typeface="Segoe UI"/>
              </a:rPr>
              <a:t>📧  Email Notifications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0" y="4535424"/>
            <a:ext cx="310896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Segoe UI"/>
              </a:rPr>
              <a:t>Send resource findings
to owners &amp; stakeholders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568696"/>
            <a:ext cx="10789920" cy="100584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8640" y="5568696"/>
            <a:ext cx="73152" cy="10058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678424"/>
            <a:ext cx="548640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8350F"/>
                </a:solidFill>
                <a:latin typeface="Segoe UI"/>
              </a:rPr>
              <a:t>➕  Extensible by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6025896"/>
            <a:ext cx="96012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2400E"/>
                </a:solidFill>
                <a:latin typeface="Segoe UI"/>
              </a:rPr>
              <a:t>Azure Admins can add custom MCP tools for their specific needs — proprietary APIs, internal databases, compliance checks, or automation workflows. Simply define a Python function, register it as an MCP tool, and the agent picks it up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cost breakdown for Azure services over the last 30 days, with a total of $2,544.71 USD, detailing expenses for services such as Azure Cognitive Search, Microsoft Defender for Cloud, and Virtual Machines Licenses.&#10;&#10;AI-generated content may be incorrect.">
            <a:extLst>
              <a:ext uri="{FF2B5EF4-FFF2-40B4-BE49-F238E27FC236}">
                <a16:creationId xmlns:a16="http://schemas.microsoft.com/office/drawing/2014/main" id="{4B07ABF4-546D-BC3F-AF55-8EA965AED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2329"/>
            <a:ext cx="12192000" cy="4813342"/>
          </a:xfrm>
          <a:prstGeom prst="rect">
            <a:avLst/>
          </a:prstGeom>
        </p:spPr>
      </p:pic>
      <p:pic>
        <p:nvPicPr>
          <p:cNvPr id="5" name="Picture 4" descr="The image shows a chart detailing the cost breakdown for various Azure services, with Azure Cognitive Search services being highlighted, indicating two active services with different configurations and network settings.&#10;&#10;AI-generated content may be incorrect.">
            <a:extLst>
              <a:ext uri="{FF2B5EF4-FFF2-40B4-BE49-F238E27FC236}">
                <a16:creationId xmlns:a16="http://schemas.microsoft.com/office/drawing/2014/main" id="{E967C538-3A0E-EDA3-CB78-DFCD1B74A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57" y="0"/>
            <a:ext cx="10689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4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shows an Azure Operations Chat interface with options to generate a dashboard for a specific Azure subscription, including resources, costs, and health status.&#10;&#10;AI-generated content may be incorrect.">
            <a:extLst>
              <a:ext uri="{FF2B5EF4-FFF2-40B4-BE49-F238E27FC236}">
                <a16:creationId xmlns:a16="http://schemas.microsoft.com/office/drawing/2014/main" id="{BC35268B-D39C-7F85-9359-5D898A9A3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70" y="0"/>
            <a:ext cx="117426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961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user interface with a message confirming that their request to increase the quota for 40 vCPUs in the 'Standard_NH96ads_H100_v5' resource type in the eastus region has been accepted and is currently being processed.&#10;&#10;AI-generated content may be incorrect.">
            <a:extLst>
              <a:ext uri="{FF2B5EF4-FFF2-40B4-BE49-F238E27FC236}">
                <a16:creationId xmlns:a16="http://schemas.microsoft.com/office/drawing/2014/main" id="{AEC66C03-8011-E839-AFD0-43FE5C163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7790"/>
            <a:ext cx="12192000" cy="416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15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691" y="59634"/>
            <a:ext cx="7951105" cy="26835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293B"/>
                </a:solidFill>
                <a:latin typeface="Segoe UI"/>
              </a:rPr>
              <a:t>Azure Agent — Architecture Overview</a:t>
            </a:r>
          </a:p>
        </p:txBody>
      </p:sp>
      <p:pic>
        <p:nvPicPr>
          <p:cNvPr id="147" name="Picture 146" descr="The image illustrates a complex Azure Operations Agent architecture, showcasing various components like authentication, token management, dashboard interfaces, and various Azure services like Monitoring, Resource Management, and Support tools, all interconnected through a series of RESTful APIs and streaming mechanisms.&#10;&#10;AI-generated content may be incorrect.">
            <a:extLst>
              <a:ext uri="{FF2B5EF4-FFF2-40B4-BE49-F238E27FC236}">
                <a16:creationId xmlns:a16="http://schemas.microsoft.com/office/drawing/2014/main" id="{2D1B75E3-2F66-C4C0-A41C-69D01A5BC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311" y="193812"/>
            <a:ext cx="6437342" cy="62808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339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Anil Dwarakanath</cp:lastModifiedBy>
  <cp:revision>2</cp:revision>
  <dcterms:created xsi:type="dcterms:W3CDTF">2013-01-27T09:14:16Z</dcterms:created>
  <dcterms:modified xsi:type="dcterms:W3CDTF">2026-04-23T16:55:18Z</dcterms:modified>
  <cp:category/>
</cp:coreProperties>
</file>